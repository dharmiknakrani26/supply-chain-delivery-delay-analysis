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34-416C-B96C-5266FB0A8228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34-416C-B96C-5266FB0A8228}"/>
              </c:ext>
            </c:extLst>
          </c:dPt>
          <c:cat>
            <c:strRef>
              <c:f>Sheet1!$A$2:$A$3</c:f>
              <c:strCache>
                <c:ptCount val="2"/>
                <c:pt idx="0">
                  <c:v>Late</c:v>
                </c:pt>
                <c:pt idx="1">
                  <c:v>On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36048</c:v>
                </c:pt>
                <c:pt idx="1">
                  <c:v>29704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34-416C-B96C-5266FB0A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E1B2A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First Class</c:v>
                </c:pt>
                <c:pt idx="1">
                  <c:v>Second Class</c:v>
                </c:pt>
                <c:pt idx="2">
                  <c:v>Same Day</c:v>
                </c:pt>
                <c:pt idx="3">
                  <c:v>Standard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0.95269999999999999</c:v>
                </c:pt>
                <c:pt idx="1">
                  <c:v>0.76719999999999999</c:v>
                </c:pt>
                <c:pt idx="2">
                  <c:v>0.46150000000000002</c:v>
                </c:pt>
                <c:pt idx="3">
                  <c:v>0.38129999999999997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3-4B58-9BAA-87C06E7846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E1B2A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 Africa</c:v>
                </c:pt>
                <c:pt idx="1">
                  <c:v>East Africa</c:v>
                </c:pt>
                <c:pt idx="2">
                  <c:v>South USA</c:v>
                </c:pt>
                <c:pt idx="3">
                  <c:v>West Asia</c:v>
                </c:pt>
                <c:pt idx="4">
                  <c:v>Eastern Europe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0.57550000000000001</c:v>
                </c:pt>
                <c:pt idx="1">
                  <c:v>0.56769999999999998</c:v>
                </c:pt>
                <c:pt idx="2">
                  <c:v>0.55989999999999995</c:v>
                </c:pt>
                <c:pt idx="3">
                  <c:v>0.55979999999999996</c:v>
                </c:pt>
                <c:pt idx="4">
                  <c:v>0.55959999999999999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93-46D6-93AB-0D4A2DA1C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Late</c:v>
                </c:pt>
                <c:pt idx="1">
                  <c:v>On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2.14</c:v>
                </c:pt>
                <c:pt idx="1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9F-4828-A7A5-F9F3D89E66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</c:scaling>
        <c:delete val="0"/>
        <c:axPos val="l"/>
        <c:majorGridlines>
          <c:spPr>
            <a:ln w="1270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E1B2A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Cameras</c:v>
                </c:pt>
                <c:pt idx="1">
                  <c:v>Accessories</c:v>
                </c:pt>
                <c:pt idx="2">
                  <c:v>Women’s
Clothing</c:v>
                </c:pt>
                <c:pt idx="3">
                  <c:v>Golf Gloves</c:v>
                </c:pt>
                <c:pt idx="4">
                  <c:v>Electronics</c:v>
                </c:pt>
                <c:pt idx="5">
                  <c:v>Cleats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0.58109999999999995</c:v>
                </c:pt>
                <c:pt idx="1">
                  <c:v>0.56989999999999996</c:v>
                </c:pt>
                <c:pt idx="2">
                  <c:v>0.56459999999999999</c:v>
                </c:pt>
                <c:pt idx="3">
                  <c:v>0.56200000000000006</c:v>
                </c:pt>
                <c:pt idx="4">
                  <c:v>0.55900000000000005</c:v>
                </c:pt>
                <c:pt idx="5">
                  <c:v>0.55079999999999996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9C-44FD-A6FA-5EDB2CE330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467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79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87552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Chain Performance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Delivery Delay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6E2EA"/>
                </a:solidFill>
              </a:rPr>
              <a:t>Identifying late delivery risk, profit impact, and operational improvement opportunities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" y="2999232"/>
            <a:ext cx="2103120" cy="0"/>
          </a:xfrm>
          <a:prstGeom prst="line">
            <a:avLst/>
          </a:prstGeom>
          <a:noFill/>
          <a:ln w="3810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7D3"/>
                </a:solidFill>
              </a:rPr>
              <a:t>Portfolio presentation | Python • SQL • Tableau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Prepared by Dharmik Nakrani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3886200" cy="2560320"/>
          </a:xfrm>
          <a:prstGeom prst="roundRect">
            <a:avLst>
              <a:gd name="adj" fmla="val 53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1812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/>
              <a:t>54.82%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863840" y="2523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late delivery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2898648"/>
            <a:ext cx="32004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/>
              <a:t>More than half of orders were delivered late.</a:t>
            </a:r>
          </a:p>
        </p:txBody>
      </p:sp>
      <p:sp>
        <p:nvSpPr>
          <p:cNvPr id="11" name="Text 9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analysis begins with one simple question: where is the delivery process breaking down?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B2A"/>
                </a:solidFill>
              </a:rPr>
              <a:t>The company is moving a high volume of orders, but delivery reliability is weak.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</a:rPr>
              <a:t>Late deliveries can damage customer trust, increase support issues, and make premium shipping feel unreliable.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446520" y="1316736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11112" y="1463040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11112" y="1746504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D7DDD"/>
                </a:solidFill>
              </a:rPr>
              <a:t>65,752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11112" y="219456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unique orders analyzed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979408" y="1316736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0" y="1463040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LATE ORDERS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0" y="1746504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D9534F"/>
                </a:solidFill>
              </a:rPr>
              <a:t>36,048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0" y="219456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orders delivered late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46520" y="278892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11112" y="293522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LATE DELIVERY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11112" y="32186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D9534F"/>
                </a:solidFill>
              </a:rPr>
              <a:t>54.82%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11112" y="3666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main business problem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9408" y="278892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0" y="293522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AVG DELAY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0" y="32186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28C28"/>
                </a:solidFill>
              </a:rPr>
              <a:t>0.57 days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0" y="3666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average across all rows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0F6FF"/>
          </a:solidFill>
          <a:ln w="12700">
            <a:solidFill>
              <a:srgbClr val="DDE9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41832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DDD"/>
                </a:solidFill>
              </a:rPr>
              <a:t>Business goal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" y="449884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0E1B2A"/>
                </a:solidFill>
              </a:rPr>
              <a:t>Find which shipping modes, regions, and product categories create delay risk — then turn those findings into operational recommendations.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project was built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workflow follows a real analyst process: prepare the data, validate it, analyze it, and communicate the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847088" cy="1508760"/>
          </a:xfrm>
          <a:prstGeom prst="roundRect">
            <a:avLst>
              <a:gd name="adj" fmla="val 7273"/>
            </a:avLst>
          </a:prstGeom>
          <a:solidFill>
            <a:srgbClr val="F6F8FB"/>
          </a:solidFill>
          <a:ln w="1270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4088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DDD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214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Raw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63347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467"/>
                </a:solidFill>
              </a:rPr>
              <a:t>180,519 rows / 53 columns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15768" y="1965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25496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DDD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18688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Clean &amp; validate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6936" y="263347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467"/>
                </a:solidFill>
              </a:rPr>
              <a:t>removed duplicates, fixed dates, checked missing values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01768" y="1965960"/>
            <a:ext cx="184708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11496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DDD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21214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02936" y="263347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467"/>
                </a:solidFill>
              </a:rPr>
              <a:t>delay_days, delivery_result, profit_margin, month fields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23176" y="1965960"/>
            <a:ext cx="184708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32904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DDD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21214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24344" y="263347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467"/>
                </a:solidFill>
              </a:rPr>
              <a:t>KPIs, shipping mode, region, category, profit, trend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44584" y="1965960"/>
            <a:ext cx="184708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354312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999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47504" y="21214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Dashboard &amp; story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45752" y="263347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467"/>
                </a:solidFill>
              </a:rPr>
              <a:t>Tableau executive dashboard with recommendations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434340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78992" y="4489704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CLEANED ROWS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8992" y="477316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D7DDD"/>
                </a:solidFill>
              </a:rPr>
              <a:t>180,511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78992" y="5221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after removing duplicates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29000" y="434340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93592" y="4489704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CLEANED COLUMNS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93592" y="477316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999"/>
                </a:solidFill>
              </a:rPr>
              <a:t>25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3593592" y="5221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analysis-ready fields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0" y="434340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08192" y="4489704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08192" y="477316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AD72"/>
                </a:solidFill>
              </a:rPr>
              <a:t>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108192" y="5221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validated before analysis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34340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622792" y="4489704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DATE RANGE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22792" y="477316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28C28"/>
                </a:solidFill>
              </a:rPr>
              <a:t>2015–2018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622792" y="5221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historical order data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KPI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first view summarizes scale, revenue, profit, and the delivery reliability gap.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0392" y="147218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0392" y="175564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D7DDD"/>
                </a:solidFill>
              </a:rPr>
              <a:t>65,752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0392" y="2203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unique orders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3258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27832" y="147218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Late Orders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27832" y="175564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D9534F"/>
                </a:solidFill>
              </a:rPr>
              <a:t>36,048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2203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delivered late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40680" y="13258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05272" y="147218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Late Delivery 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05272" y="175564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D9534F"/>
                </a:solidFill>
              </a:rPr>
              <a:t>54.82%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605272" y="2203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main issue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13258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82712" y="147218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82712" y="175564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999"/>
                </a:solidFill>
              </a:rPr>
              <a:t>$36.78M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982712" y="2203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order revenue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195560" y="1325880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1524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60152" y="1472184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467"/>
                </a:solidFill>
              </a:rPr>
              <a:t>Total Profit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360152" y="175564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AD72"/>
                </a:solidFill>
              </a:rPr>
              <a:t>$3.97M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360152" y="22037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</a:rPr>
              <a:t>profit captured</a:t>
            </a:r>
            <a:endParaRPr lang="en-US" sz="8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77240" y="3154680"/>
          <a:ext cx="3291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617720" y="33101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B2A"/>
                </a:solidFill>
              </a:rPr>
              <a:t>The business has enough sales volume to be meaningful — but the reliability problem is also large enough to be urgent.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645152" y="427939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475467"/>
                </a:solidFill>
              </a:rPr>
              <a:t>A 54.82% late delivery rate means delay is not a small operational issue. It is a core performance problem that should be monitored as a monthly KPI.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delay risk shows 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Premium shipping is underperforming, and several regions show consistently high late delivery rates.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Shipping mode: premium options are failing expectations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1664208"/>
          <a:ext cx="49834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234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Top regions: geography also matters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73952" y="1664208"/>
          <a:ext cx="49834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960120" y="498348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FFF8EE"/>
          </a:solidFill>
          <a:ln w="12700">
            <a:solidFill>
              <a:srgbClr val="FFE0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1143000" y="519379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E1B2A"/>
                </a:solidFill>
              </a:rPr>
              <a:t>Human takeaway: First Class should feel reliable, but it has a 95.27% late delivery rate. That is the strongest signal for operational review.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impact and product category risk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project checks not only where delays happen, but also whether they matter for business performance.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Profit comparison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169164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800600" y="1691640"/>
            <a:ext cx="2423160" cy="2240280"/>
          </a:xfrm>
          <a:prstGeom prst="roundRect">
            <a:avLst>
              <a:gd name="adj" fmla="val 4898"/>
            </a:avLst>
          </a:prstGeom>
          <a:solidFill>
            <a:srgbClr val="F6F8FB"/>
          </a:solidFill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10912" y="18745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</a:rPr>
              <a:t>On-time orders have slightly better efficiency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10912" y="2670048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75467"/>
                </a:solidFill>
              </a:rPr>
              <a:t>Profit margin: 10.97% on time vs 10.63% late. The gap is small, but it supports the idea that delivery reliability matters.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758952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</a:rPr>
              <a:t>High-volume categories: where to focus operations</a:t>
            </a:r>
            <a:endParaRPr lang="en-US" sz="13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7635240" y="1691640"/>
          <a:ext cx="37490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786384" y="4709160"/>
            <a:ext cx="10607040" cy="658368"/>
          </a:xfrm>
          <a:prstGeom prst="roundRect">
            <a:avLst>
              <a:gd name="adj" fmla="val 16667"/>
            </a:avLst>
          </a:prstGeom>
          <a:solidFill>
            <a:srgbClr val="EFFAF6"/>
          </a:solidFill>
          <a:ln w="12700">
            <a:solidFill>
              <a:srgbClr val="CBE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7552" y="491032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E1B2A"/>
                </a:solidFill>
              </a:rPr>
              <a:t>Better analyst thinking: high percentages are useful, but high-volume delayed categories deserve priority because they affect more customers.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Tableau dashboard: executive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dashboard turns the analysis into a simple business view for decision makers.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66294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scproj/Supply Chain Project/images/executive_overview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79092"/>
            <a:ext cx="6291072" cy="3538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417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</a:rPr>
              <a:t>What the dashboard helps answer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54112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A999"/>
                </a:solidFill>
              </a:rPr>
              <a:t>•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1993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How serious is the late delivery problem?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54112" y="2505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A999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2487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Which shipping modes create the most risk?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54112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A999"/>
                </a:solidFill>
              </a:rPr>
              <a:t>•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01000" y="29809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Which regions are most affected?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54112" y="3493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A999"/>
                </a:solidFill>
              </a:rPr>
              <a:t>•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01000" y="3474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How do late orders compare with on-time orders?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54112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A999"/>
                </a:solidFill>
              </a:rPr>
              <a:t>•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01000" y="3968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What actions should the business take next?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26680" y="489204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0F6FF"/>
          </a:solidFill>
          <a:ln w="12700">
            <a:solidFill>
              <a:srgbClr val="DDE9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918704" y="5138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D7DDD"/>
                </a:solidFill>
              </a:rPr>
              <a:t>Built for storytelling, not just charts.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6072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The goal is not only to explain what happened, but to show what the business should do next.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64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56848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  <a:effectLst>
            <a:outerShdw blurRad="1016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78408" y="1600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44168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</a:rPr>
              <a:t>Improve First Class shipping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96696" y="2075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467"/>
                </a:solidFill>
              </a:rPr>
              <a:t>95.27% late delivery rate makes it the highest-priority operational issue.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  <a:effectLst>
            <a:outerShdw blurRad="1016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73168" y="1600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999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38928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</a:rPr>
              <a:t>Review high-risk regions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91456" y="2075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467"/>
                </a:solidFill>
              </a:rPr>
              <a:t>Central Africa and East Africa should be reviewed for carrier and route performance.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  <a:effectLst>
            <a:outerShdw blurRad="1016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567928" y="1600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999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33688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</a:rPr>
              <a:t>Monitor delays monthly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86216" y="2075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467"/>
                </a:solidFill>
              </a:rPr>
              <a:t>Use late delivery rate as a monthly supply chain KPI with alerts.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743200" y="370332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  <a:effectLst>
            <a:outerShdw blurRad="1016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44368" y="3886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999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3867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</a:rPr>
              <a:t>Focus on high-volume categories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62656" y="4361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467"/>
                </a:solidFill>
              </a:rPr>
              <a:t>Cleats, Electronics, Accessories, and Golf Gloves can affect many customers.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537960" y="370332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  <a:effectLst>
            <a:outerShdw blurRad="1016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39128" y="3886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999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04888" y="3867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</a:rPr>
              <a:t>Compare carriers by region + mode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57416" y="43616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467"/>
                </a:solidFill>
              </a:rPr>
              <a:t>Find weak logistics partners and set performance targets.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1828800" y="5532120"/>
            <a:ext cx="8549640" cy="502920"/>
          </a:xfrm>
          <a:prstGeom prst="roundRect">
            <a:avLst>
              <a:gd name="adj" fmla="val 21818"/>
            </a:avLst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57400" y="5687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Final goal: reduce late deliveries, improve customer trust, and make supply chain performance easier to manage.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566928" y="6464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3"/>
                </a:solidFill>
              </a:rPr>
              <a:t>Portfolio project | Python • SQL • Tableau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Widescreen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Performance &amp; Delivery Delay Analysis</dc:title>
  <dc:subject>Supply Chain Performance &amp; Delivery Delay Analysis</dc:subject>
  <dc:creator>Dharmik Nakrani</dc:creator>
  <cp:lastModifiedBy>Dharmik Nakrani</cp:lastModifiedBy>
  <cp:revision>2</cp:revision>
  <dcterms:created xsi:type="dcterms:W3CDTF">2026-05-12T00:40:56Z</dcterms:created>
  <dcterms:modified xsi:type="dcterms:W3CDTF">2026-05-12T00:47:33Z</dcterms:modified>
</cp:coreProperties>
</file>